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سلام. موضوع پژوهش من اینه: آیا مدل بلک-شولز توی بورس تهران کار می‌کنه؟ و وقتی سهم توی صف قفل می‌شه اختیارها چه رفتاری دارن؟ دارایی مورد مطالعه صندوق اهرمی «اهرم» و حدود ۲۸ میلیون رکورد دفتر سفارش.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 سوال جدا پرسیدم. اول: آیا بلک-شولز اصلاً وقتی سهم آزاده درست کار می‌کنه؟ این منصفانه‌ترین تسته. دوم: وقتی صف تشکیل می‌شه و سهم قفله، آیا کشف قیمت به بازار اختیار منتقل می‌شه؟ این دو رو عمداً از هم جدا کردم.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از نظر داده: ۴۵۰ قرارداد، حدود ۲۸ میلیون ردیف دفتر سفارش. نکته‌ی کلیدی: ۵۵.۸ درصد روزها هیچ معامله‌ای نشده — بازار خیلی کم‌معامله است و این روی همه‌چیز اثر می‌ذاره. دامنه نوسان متغیره: الان حدود ۴٪، قبلاً حدود ۱۰٪. و مهم: نرخ بهره واقعی ۳۰ تا ۴۰ درصد رو استفاده کردم، نه صفر.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کار رو روی دو محور سازمان دادم. محور A اعتبار بلک-شولز رو وقتی سهم آزاده تست می‌کنه. محور B رفتار اختیار رو برحسب «سن صف» دنبال می‌کنه. سه انتخاب مهم: تعریف درست مانینس به‌صورت K/S، استفاده از نرخ بهره واقعی ۳۰-۴۰ درصد، و تخمین مستقل نوسان برای پرهیز از تست دوری.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یافته اول محور A: وقتی مانینس رو درست (K/S) تعریف می‌کنیم، هیچ چولگی معنی‌داری در نوسان وجود نداره — شیب ۰.۱۸- با p=۰.۱۶. این یک تصحیح مهمه: نسخه قبلی با تعریف غلط یک چولگی قوی نشون می‌داد که در واقع ساختگی بود. پیام: حتی یک «واقعیت معروف» مثل چولگی می‌تونه با تعریف مانینس عوض بشه.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یافته دوم: بلک-شولز به‌طور سیستماتیک اختیارها رو کمتر از قیمت بازار ارزش‌گذاری می‌کنه — میانه ۲۲۱ ریال. و مهم: این بار هم کال‌ها و هم پوت‌ها. پس داستان یک‌طرفه نیست. علت محتمل: فرسایش نوسانی صندوق اهرمی باعث می‌شه نوسان تاریخی برای قیمت‌گذاری کم باشه.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یافته سوم: رابطه پریتی نقض می‌شه و پایه منفیه (میانه ۳۳۲- ریال). یعنی کال‌ها نسبت به پوت‌ها ارزون‌ان. دو دلیل: نرخ بهره بالا باعث می‌شه ارزش فعلی قیمت اعمال خیلی کمتر بشه؛ و آربیتراژ اصلاح‌کننده نیاز به فروش استقراضی سهم داره که در بورس تهران محدوده. پس این یافته بیشتر درباره‌ی نرخ بهره و اصطکاک بازاره تا خطای خود مدل.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می‌رسیم به محور B. یافته اول: هرچی صف بیشتر دوام میاره نوسان ضمنی شدید می‌افته — از حدود ۰.۹۴ در دقیقه اول به حدود ۰.۳۴. تفسیر: لحظه اول نامعلومه صف می‌مونه یا می‌شکنه، پس عدم‌قطعیت گران قیمت می‌خوره؛ بعد که بازار مطمئن می‌شه سهم تا آخر روز قفل می‌مونه نوسان می‌خوابه. اسمش رو گذاشتم اثر قطعیت.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یافته دوم محور B: برخلاف انتظار، معامله به اختیارها مهاجرت نمی‌کنه — فعالیت صف خرید یک مرتبه از صف فروش کمتره؛ سهم و اختیارش با هم خاموش می‌شن. بعد از رابطه پریتی یک «قیمت سایه» ساختم و تست کردم آیا بازگشایی روز بعد رو پیش‌بینی می‌کنه. جواب: از نظر آماری معنی‌داره ولی از نظر اقتصادی خیلی کوچیک — یعنی یک ذره اطلاعات هست ولی نه برای معامله‌ی بزرگ.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جمع‌بندی: یک، بلک-شولز حتی در حالت آزاد مدل کاملی نیست. دو، یک «واقعیت» مثل چولگی یا علامت پریتی می‌تونه با تعریف مانینس و نرخ بهره برعکس بشه — درس روش‌شناختی مهم. سه، انحراف‌ها بیشتر از ساختار بازار میان: فرسایش نوسانی صندوق اهرمی، نرخ بهره بالا، و محدودیت فروش استقراضی. چهار، مکانیسم صف این‌ها رو بزرگ‌تر می‌کنه نه ایجاد. تشکر.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هم سه منبع اصلی: بلک-شولز ۱۹۷۳ برای خود مدل، آولاندا و ژانگ ۲۰۱۰ برای فرسایش نوسانی صندوق اهرمی، و کیم و ری ۱۹۹۷ برای دامنه نوسان و کشف قیمت. ممنون — سوال بفرمایید.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B3A7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2B3A7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DISCOVERY UNDER MARKET LOCK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Black–Scholes Validity &amp; Option Behavior During Queue Regimes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Tehran Stock Exchange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Ahrom (اهرم) leveraged-ETF options  ·  19-month panel  ·  ~28M order-book snapshots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Black–Scholes assumes the underlying trades continuously. The Tehran Stock Exchange deliberately breaks that — a daily price band locks stocks in a queue, yet their options keep trading.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Black–Scholes hold at all?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model when the stock is FREE and tradeable — the fairest possible test. If it fails even here, the fault is the model and the asset, not the lock.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651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35240" y="2697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under the lock?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75120" y="37033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queue forms, the option market is the ONLY place the 'true' price can show. Does price discovery move to the options?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&amp; the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95528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contracts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(225 call · 225 put)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90288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order-book rows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55.8%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385048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contract-days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ZERO volume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69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~4% / ~10%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95528" y="4937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band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/ historically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43400" y="3749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069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90288" y="4937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risk-free rate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annum (real)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0" y="3749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069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1,877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385048" y="4937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price-limit queue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episodes detected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study works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Black–Scholes valid?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stock is free: test the IV skew, the pricing error, put–call parity, and cross-contract IV consistency.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45920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459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vs queue age 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47688" y="2606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stock is locked: track IV, depth, quoting activity and a parity-implied 'shadow price' as the queue ages (τ = minutes since it formed).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deliberate choices that drive the results: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Moneyness measured as K/S (strike ÷ spot) — the correct convention.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risk-free rate (~30–40%), loaded from the economic-variables table — not r = 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benchmark is an independent 5-year EWMA estimate, so the pricing-error test isn't circular.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volatility skew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−0.18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slope vs moneyness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 = 0.16 — not significant)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correct K/S moneyness, there is NO monotonic skew in near-term calls.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earlier S/K definition produced a strong 'reverse skew' — it was an artifact of the convention.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structure remains (a bowl at short maturities), but no single direction.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612648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A8">
                <a:alpha val="25000"/>
              </a:srgbClr>
            </a:outerShdw>
          </a:effectLst>
        </p:spPr>
      </p:sp>
      <p:pic>
        <p:nvPicPr>
          <p:cNvPr id="9" name="Image 0" descr="/home/claude/figs/axA_iv_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143998"/>
            <a:ext cx="5724144" cy="3301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Black–Scholes underprices — both calls AND puts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/ 452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/ mean error (rial)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price &gt; BS price (p≈10⁻⁷⁸)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prices sit ABOVE the BS model across nearly all buckets.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calls and puts are underpriced — so it isn't a one-sided story.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cause: the leveraged ETF's 'volatility drag' makes historical volatility too low for pricing.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1828800"/>
            <a:ext cx="6126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A8">
                <a:alpha val="25000"/>
              </a:srgbClr>
            </a:outerShdw>
          </a:effectLst>
        </p:spPr>
      </p:sp>
      <p:pic>
        <p:nvPicPr>
          <p:cNvPr id="9" name="Image 0" descr="/home/claude/figs/axA_pricing_error_by_bu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906777"/>
            <a:ext cx="5724144" cy="18674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Put–call parity breaks — negative basis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−332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parity basis (rial)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−515 (p≈10⁻²⁵)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basis ⇒ calls are CHEAP relative to puts (puts rich).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the high rate: Ke⁻ʳᵀ is far below K, pushing the basis negative.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arbitraged away? The fix needs short-selling the stock — constrained on the TSE.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612648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A8">
                <a:alpha val="25000"/>
              </a:srgbClr>
            </a:outerShdw>
          </a:effectLst>
        </p:spPr>
      </p:sp>
      <p:pic>
        <p:nvPicPr>
          <p:cNvPr id="9" name="Image 0" descr="/home/claude/figs/axA_parity_by_bu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161679"/>
            <a:ext cx="5724144" cy="32661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lock: volatility calms as the queue ages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 → 0.34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IV: first minute → 5–30 min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(~2.7× drop)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queue = uncertain (will it hold or break?) → IV priced high.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lock settles, the close becomes predictable → IV falls.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call this the 'certainty effect'.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61264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A8">
                <a:alpha val="25000"/>
              </a:srgbClr>
            </a:outerShdw>
          </a:effectLst>
        </p:spPr>
      </p:sp>
      <p:pic>
        <p:nvPicPr>
          <p:cNvPr id="9" name="Image 0" descr="/home/claude/figs/axB_iv_vs_t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387897"/>
            <a:ext cx="5724144" cy="28137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doesn't migrate — and the 'shadow price'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Buy-queue quoting stays an order of magnitude BELOW the sell side — when the stock is locked, its options go quiet too.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price discovery does NOT flood into the options.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parity I build a 'shadow price' for the locked stock and test if it predicts the next-day open.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statistically significant but economically tiny (slope 7.3×10⁻⁶, N≈6,669).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61264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A8">
                <a:alpha val="25000"/>
              </a:srgbClr>
            </a:outerShdw>
          </a:effectLst>
        </p:spPr>
      </p:sp>
      <p:pic>
        <p:nvPicPr>
          <p:cNvPr id="7" name="Image 0" descr="/home/claude/figs/axB_tradeintensity_vs_t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520" y="1618488"/>
            <a:ext cx="3908239" cy="19293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3886200"/>
            <a:ext cx="6126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3A8">
                <a:alpha val="25000"/>
              </a:srgbClr>
            </a:outerShdw>
          </a:effectLst>
        </p:spPr>
      </p:sp>
      <p:pic>
        <p:nvPicPr>
          <p:cNvPr id="9" name="Image 1" descr="/home/claude/figs/axB_nextday_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60" y="4087368"/>
            <a:ext cx="3201960" cy="19751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2B3A7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all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Black–Scholes is an imperfect lens here  </a:t>
            </a:r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 when the stock is free — but not via a textbook skew.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'fact' can flip with conventions  </a:t>
            </a:r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moneyness (K/S vs S/K) and the rate (real vs 0) reverse the skew and the parity sign.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 drives the deviations  </a:t>
            </a:r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leveraged-ETF volatility drag + high rates + short-selling limits, more than the model itself.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257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amplifies, doesn't create  </a:t>
            </a:r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shadow price leaks a faint signal; discovery doesn't migrate to options.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Key references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Black, F. &amp; Scholes, M. (1973). The pricing of options and corporate liabilities. Journal of Political Economy, 81(3), 637–654.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Avellaneda, M. &amp; Zhang, S. (2010). Path-dependence of leveraged ETF returns. SIAM J. Financial Mathematics, 1(1), 586–603.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Kim, K. A. &amp; Rhee, S. G. (1997). Price limit performance: Evidence from the Tokyo Stock Exchange. Journal of Finance, 52(2), 885–901.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 Discovery Under Market Lock</dc:title>
  <dc:subject>PptxGenJS Presentation</dc:subject>
  <dc:creator>Ahrom Options Study</dc:creator>
  <cp:lastModifiedBy>Ahrom Options Study</cp:lastModifiedBy>
  <cp:revision>1</cp:revision>
  <dcterms:created xsi:type="dcterms:W3CDTF">2026-06-28T05:19:26Z</dcterms:created>
  <dcterms:modified xsi:type="dcterms:W3CDTF">2026-06-28T05:19:26Z</dcterms:modified>
</cp:coreProperties>
</file>